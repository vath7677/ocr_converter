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20"/>
    </p:embeddedFont>
    <p:embeddedFont>
      <p:font typeface="Inter" charset="1" panose="02000503000000020004"/>
      <p:regular r:id="rId21"/>
    </p:embeddedFont>
    <p:embeddedFont>
      <p:font typeface="Canva Sans Bold" charset="1" panose="020B08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250" t="0" r="-625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372869" y="2350387"/>
            <a:ext cx="10817157" cy="282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31"/>
              </a:lnSpc>
            </a:pPr>
            <a:r>
              <a:rPr lang="en-US" sz="8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Optical Character Recognition (OCR)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46350" y="5968448"/>
            <a:ext cx="10670196" cy="2563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3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technical project presentation on automated text extraction from images and documents</a:t>
            </a:r>
          </a:p>
          <a:p>
            <a:pPr algn="l">
              <a:lnSpc>
                <a:spcPts val="5107"/>
              </a:lnSpc>
            </a:pPr>
          </a:p>
          <a:p>
            <a:pPr algn="l">
              <a:lnSpc>
                <a:spcPts val="5107"/>
              </a:lnSpc>
            </a:pPr>
            <a:r>
              <a:rPr lang="en-US" sz="31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Guided by:</a:t>
            </a:r>
            <a:r>
              <a:rPr lang="en-US" sz="3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Leang Vakhim  ·  </a:t>
            </a:r>
            <a:r>
              <a:rPr lang="en-US" sz="31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Presented by:</a:t>
            </a:r>
            <a:r>
              <a:rPr lang="en-US" sz="31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Ry Vorovath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90550" y="1104900"/>
            <a:ext cx="6018907" cy="8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Tabl</a:t>
            </a: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 of Contents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1500" y="2756023"/>
            <a:ext cx="2775019" cy="6119333"/>
            <a:chOff x="0" y="0"/>
            <a:chExt cx="812800" cy="17923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1792346"/>
            </a:xfrm>
            <a:custGeom>
              <a:avLst/>
              <a:gdLst/>
              <a:ahLst/>
              <a:cxnLst/>
              <a:rect r="r" b="b" t="t" l="l"/>
              <a:pathLst>
                <a:path h="179234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792346"/>
                  </a:lnTo>
                  <a:lnTo>
                    <a:pt x="0" y="1792346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812800" cy="187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371500" y="2756023"/>
          <a:ext cx="15545001" cy="6119333"/>
        </p:xfrm>
        <a:graphic>
          <a:graphicData uri="http://schemas.openxmlformats.org/drawingml/2006/table">
            <a:tbl>
              <a:tblPr/>
              <a:tblGrid>
                <a:gridCol w="2765477"/>
                <a:gridCol w="12779523"/>
              </a:tblGrid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System Overview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Technical Stack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 marL="0" indent="0" lvl="0">
                        <a:lnSpc>
                          <a:spcPts val="36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5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Model Architecture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Data Processing Pipeline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Demo &amp; Testing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1988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4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499" strike="noStrike" u="non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06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639"/>
                        </a:lnSpc>
                        <a:defRPr/>
                      </a:pP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 </a:t>
                      </a:r>
                      <a:r>
                        <a:rPr lang="en-US" sz="2599" b="true">
                          <a:solidFill>
                            <a:srgbClr val="000000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Challenges &amp; Future Improvements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9160" t="0" r="-3916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7476" y="5293366"/>
            <a:ext cx="4590459" cy="2115893"/>
            <a:chOff x="0" y="0"/>
            <a:chExt cx="6120613" cy="28211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20638" cy="2821178"/>
            </a:xfrm>
            <a:custGeom>
              <a:avLst/>
              <a:gdLst/>
              <a:ahLst/>
              <a:cxnLst/>
              <a:rect r="r" b="b" t="t" l="l"/>
              <a:pathLst>
                <a:path h="2821178" w="6120638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5961126" y="0"/>
                  </a:lnTo>
                  <a:cubicBezTo>
                    <a:pt x="6049264" y="0"/>
                    <a:pt x="6120638" y="71374"/>
                    <a:pt x="6120638" y="159512"/>
                  </a:cubicBezTo>
                  <a:lnTo>
                    <a:pt x="6120638" y="2661666"/>
                  </a:lnTo>
                  <a:cubicBezTo>
                    <a:pt x="6120638" y="2749804"/>
                    <a:pt x="6049264" y="2821178"/>
                    <a:pt x="5961126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5851922" y="5293366"/>
            <a:ext cx="4590602" cy="2115893"/>
            <a:chOff x="0" y="0"/>
            <a:chExt cx="6120803" cy="28211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0765" cy="2821178"/>
            </a:xfrm>
            <a:custGeom>
              <a:avLst/>
              <a:gdLst/>
              <a:ahLst/>
              <a:cxnLst/>
              <a:rect r="r" b="b" t="t" l="l"/>
              <a:pathLst>
                <a:path h="2821178" w="6120765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5961253" y="0"/>
                  </a:lnTo>
                  <a:cubicBezTo>
                    <a:pt x="6049391" y="0"/>
                    <a:pt x="6120765" y="71374"/>
                    <a:pt x="6120765" y="159512"/>
                  </a:cubicBezTo>
                  <a:lnTo>
                    <a:pt x="6120765" y="2661666"/>
                  </a:lnTo>
                  <a:cubicBezTo>
                    <a:pt x="6120765" y="2749804"/>
                    <a:pt x="6049391" y="2821178"/>
                    <a:pt x="5961253" y="2821178"/>
                  </a:cubicBezTo>
                  <a:lnTo>
                    <a:pt x="159512" y="2821178"/>
                  </a:lnTo>
                  <a:cubicBezTo>
                    <a:pt x="71374" y="2821178"/>
                    <a:pt x="0" y="2749804"/>
                    <a:pt x="0" y="2661666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87476" y="7683256"/>
            <a:ext cx="9455048" cy="1662265"/>
            <a:chOff x="0" y="0"/>
            <a:chExt cx="12606731" cy="22163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06655" cy="2216277"/>
            </a:xfrm>
            <a:custGeom>
              <a:avLst/>
              <a:gdLst/>
              <a:ahLst/>
              <a:cxnLst/>
              <a:rect r="r" b="b" t="t" l="l"/>
              <a:pathLst>
                <a:path h="2216277" w="12606655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47016" y="0"/>
                  </a:lnTo>
                  <a:cubicBezTo>
                    <a:pt x="12535154" y="0"/>
                    <a:pt x="12606655" y="71501"/>
                    <a:pt x="12606655" y="159639"/>
                  </a:cubicBezTo>
                  <a:lnTo>
                    <a:pt x="12606655" y="2056638"/>
                  </a:lnTo>
                  <a:cubicBezTo>
                    <a:pt x="12606655" y="2144776"/>
                    <a:pt x="12535154" y="2216277"/>
                    <a:pt x="12447016" y="2216277"/>
                  </a:cubicBezTo>
                  <a:lnTo>
                    <a:pt x="159639" y="2216277"/>
                  </a:lnTo>
                  <a:cubicBezTo>
                    <a:pt x="71501" y="2216404"/>
                    <a:pt x="0" y="2144903"/>
                    <a:pt x="0" y="2056638"/>
                  </a:cubicBezTo>
                  <a:close/>
                </a:path>
              </a:pathLst>
            </a:custGeom>
            <a:solidFill>
              <a:srgbClr val="DADBF1"/>
            </a:solidFill>
            <a:ln w="9526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92238" y="927202"/>
            <a:ext cx="5948958" cy="85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System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9650" y="2556034"/>
            <a:ext cx="9445523" cy="216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builds an end-to-end OCR recognizer that automatically detects and extracts text from images, scanned documents, and natural scenes. The system transforms unstructured visual data into machine-readable, searchable text — enabling downstream applications such as document digitization, data entry automation, and accessibility tools.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284" y="5581650"/>
            <a:ext cx="3994842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Input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284" y="6118469"/>
            <a:ext cx="399484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Images, PDFs, and scanned documents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49731" y="5581650"/>
            <a:ext cx="3994995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Process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9731" y="6118469"/>
            <a:ext cx="3994995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Preprocessing → Detection → Recognition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5284" y="7971530"/>
            <a:ext cx="885944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Output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284" y="8508359"/>
            <a:ext cx="8859441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Structured, searchable text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524721"/>
            <a:ext cx="4022899" cy="651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6"/>
              </a:lnSpc>
            </a:pPr>
            <a:r>
              <a:rPr lang="en-US" sz="40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Technical Stack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373829"/>
            <a:ext cx="15773772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project leverages a modern, open-source toolchain optimized for image processing and deep learning.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28856" y="1926279"/>
            <a:ext cx="7978826" cy="7978826"/>
            <a:chOff x="0" y="0"/>
            <a:chExt cx="10638434" cy="1063843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638409" cy="10638409"/>
            </a:xfrm>
            <a:custGeom>
              <a:avLst/>
              <a:gdLst/>
              <a:ahLst/>
              <a:cxnLst/>
              <a:rect r="r" b="b" t="t" l="l"/>
              <a:pathLst>
                <a:path h="10638409" w="10638409">
                  <a:moveTo>
                    <a:pt x="0" y="0"/>
                  </a:moveTo>
                  <a:lnTo>
                    <a:pt x="10638409" y="0"/>
                  </a:lnTo>
                  <a:lnTo>
                    <a:pt x="10638409" y="10638409"/>
                  </a:lnTo>
                  <a:lnTo>
                    <a:pt x="0" y="106384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611939" y="2281143"/>
            <a:ext cx="3816328" cy="5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7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Core Libraries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19716" y="3035616"/>
            <a:ext cx="10353729" cy="657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Python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primary development language</a:t>
            </a:r>
          </a:p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OpenCV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image preprocessing, deskewing, and decoding</a:t>
            </a:r>
          </a:p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Ea</a:t>
            </a: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syOCR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OCR engine (combines detection  + recognition, not Tesseract)</a:t>
            </a:r>
          </a:p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PyTorch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deep learning backend that runs the EasyOCR models</a:t>
            </a:r>
          </a:p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FastAPI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API framework serving the /process-ocr/ endpoint</a:t>
            </a:r>
          </a:p>
          <a:p>
            <a:pPr algn="just" marL="772148" indent="-386074" lvl="1">
              <a:lnSpc>
                <a:spcPts val="4767"/>
              </a:lnSpc>
              <a:buFont typeface="Arial"/>
              <a:buChar char="•"/>
            </a:pPr>
            <a:r>
              <a:rPr lang="en-US" b="true" sz="3199" spc="172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NumPy — </a:t>
            </a:r>
            <a:r>
              <a:rPr lang="en-US" sz="3199" spc="172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image array handling between OpenCV and EasyOCR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905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49281" y="2652713"/>
            <a:ext cx="13865738" cy="6082288"/>
            <a:chOff x="0" y="0"/>
            <a:chExt cx="21738031" cy="9535516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1738082" cy="9535541"/>
            </a:xfrm>
            <a:custGeom>
              <a:avLst/>
              <a:gdLst/>
              <a:ahLst/>
              <a:cxnLst/>
              <a:rect r="r" b="b" t="t" l="l"/>
              <a:pathLst>
                <a:path h="9535541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9535541"/>
                  </a:lnTo>
                  <a:lnTo>
                    <a:pt x="0" y="9535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5862667" y="682333"/>
            <a:ext cx="692735" cy="692735"/>
          </a:xfrm>
          <a:custGeom>
            <a:avLst/>
            <a:gdLst/>
            <a:ahLst/>
            <a:cxnLst/>
            <a:rect r="r" b="b" t="t" l="l"/>
            <a:pathLst>
              <a:path h="692735" w="692735">
                <a:moveTo>
                  <a:pt x="0" y="0"/>
                </a:moveTo>
                <a:lnTo>
                  <a:pt x="692735" y="0"/>
                </a:lnTo>
                <a:lnTo>
                  <a:pt x="692735" y="692734"/>
                </a:lnTo>
                <a:lnTo>
                  <a:pt x="0" y="692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92238" y="721195"/>
            <a:ext cx="4745608" cy="623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1"/>
              </a:lnSpc>
            </a:pPr>
            <a:r>
              <a:rPr lang="en-US" sz="39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Model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613" y="1595438"/>
            <a:ext cx="17217923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OCR system follows a two-stage approach: </a:t>
            </a: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 detection</a:t>
            </a: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locate text regions, followed by </a:t>
            </a:r>
            <a:r>
              <a:rPr lang="en-US" sz="2499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text recognition</a:t>
            </a:r>
            <a:r>
              <a:rPr lang="en-US" sz="24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to decode characters within those regions.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44684" y="9106476"/>
            <a:ext cx="15617783" cy="762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399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recognition module uses a Convolutional Recurrent Neural Network (CRNN) with Connectionist Temporal Classification (CTC) loss, enabling accurate recognition without explicit character segmentation.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45215" y="6511700"/>
            <a:ext cx="2772857" cy="100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</a:pPr>
            <a:r>
              <a:rPr lang="en-US" sz="303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 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45215" y="7466540"/>
            <a:ext cx="2772857" cy="58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4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EAST or CRAFT to locate regions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8172" y="3092739"/>
            <a:ext cx="2772857" cy="100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1"/>
              </a:lnSpc>
            </a:pPr>
            <a:r>
              <a:rPr lang="en-US" sz="3038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Text Recognition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88172" y="4274546"/>
            <a:ext cx="2772857" cy="588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6"/>
              </a:lnSpc>
            </a:pPr>
            <a:r>
              <a:rPr lang="en-US" sz="2475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CRNN with CTC loss decodes text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05918" y="2870572"/>
            <a:ext cx="406233" cy="40623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50B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43581" y="8097990"/>
            <a:ext cx="406233" cy="40623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950B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199" y="3270364"/>
            <a:ext cx="17603522" cy="5978411"/>
          </a:xfrm>
          <a:custGeom>
            <a:avLst/>
            <a:gdLst/>
            <a:ahLst/>
            <a:cxnLst/>
            <a:rect r="r" b="b" t="t" l="l"/>
            <a:pathLst>
              <a:path h="5978411" w="17603522">
                <a:moveTo>
                  <a:pt x="0" y="0"/>
                </a:moveTo>
                <a:lnTo>
                  <a:pt x="17603522" y="0"/>
                </a:lnTo>
                <a:lnTo>
                  <a:pt x="17603522" y="5978411"/>
                </a:lnTo>
                <a:lnTo>
                  <a:pt x="0" y="5978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6301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8754" y="1028700"/>
            <a:ext cx="17730492" cy="1811197"/>
          </a:xfrm>
          <a:custGeom>
            <a:avLst/>
            <a:gdLst/>
            <a:ahLst/>
            <a:cxnLst/>
            <a:rect r="r" b="b" t="t" l="l"/>
            <a:pathLst>
              <a:path h="1811197" w="17730492">
                <a:moveTo>
                  <a:pt x="0" y="0"/>
                </a:moveTo>
                <a:lnTo>
                  <a:pt x="17730492" y="0"/>
                </a:lnTo>
                <a:lnTo>
                  <a:pt x="17730492" y="1811197"/>
                </a:lnTo>
                <a:lnTo>
                  <a:pt x="0" y="18111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5262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49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7275" y="787313"/>
            <a:ext cx="8086725" cy="714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5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 Processing Pipeline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567896" y="6917243"/>
            <a:ext cx="10496753" cy="2481529"/>
          </a:xfrm>
          <a:custGeom>
            <a:avLst/>
            <a:gdLst/>
            <a:ahLst/>
            <a:cxnLst/>
            <a:rect r="r" b="b" t="t" l="l"/>
            <a:pathLst>
              <a:path h="2481529" w="10496753">
                <a:moveTo>
                  <a:pt x="0" y="0"/>
                </a:moveTo>
                <a:lnTo>
                  <a:pt x="10496753" y="0"/>
                </a:lnTo>
                <a:lnTo>
                  <a:pt x="10496753" y="2481529"/>
                </a:lnTo>
                <a:lnTo>
                  <a:pt x="0" y="2481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10145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264531" y="8259185"/>
            <a:ext cx="395558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470401" y="2802859"/>
            <a:ext cx="10309079" cy="6455441"/>
          </a:xfrm>
          <a:custGeom>
            <a:avLst/>
            <a:gdLst/>
            <a:ahLst/>
            <a:cxnLst/>
            <a:rect r="r" b="b" t="t" l="l"/>
            <a:pathLst>
              <a:path h="6455441" w="10309079">
                <a:moveTo>
                  <a:pt x="0" y="0"/>
                </a:moveTo>
                <a:lnTo>
                  <a:pt x="10309079" y="0"/>
                </a:lnTo>
                <a:lnTo>
                  <a:pt x="10309079" y="6455441"/>
                </a:lnTo>
                <a:lnTo>
                  <a:pt x="0" y="645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4650" r="0" b="-27947"/>
            </a:stretch>
          </a:blipFill>
        </p:spPr>
      </p:sp>
      <p:grpSp>
        <p:nvGrpSpPr>
          <p:cNvPr name="Group 6" id="6"/>
          <p:cNvGrpSpPr/>
          <p:nvPr/>
        </p:nvGrpSpPr>
        <p:grpSpPr>
          <a:xfrm rot="-5400000">
            <a:off x="8187624" y="8191891"/>
            <a:ext cx="153814" cy="134587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7000" y="244475"/>
              <a:ext cx="5588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02998" y="1432591"/>
            <a:ext cx="9966957" cy="5484653"/>
          </a:xfrm>
          <a:custGeom>
            <a:avLst/>
            <a:gdLst/>
            <a:ahLst/>
            <a:cxnLst/>
            <a:rect r="r" b="b" t="t" l="l"/>
            <a:pathLst>
              <a:path h="5484653" w="9966957">
                <a:moveTo>
                  <a:pt x="0" y="0"/>
                </a:moveTo>
                <a:lnTo>
                  <a:pt x="9966957" y="0"/>
                </a:lnTo>
                <a:lnTo>
                  <a:pt x="9966957" y="5484652"/>
                </a:lnTo>
                <a:lnTo>
                  <a:pt x="0" y="5484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9165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9451320" y="4916342"/>
            <a:ext cx="153814" cy="134587"/>
            <a:chOff x="0" y="0"/>
            <a:chExt cx="812800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27000" y="244475"/>
              <a:ext cx="558800" cy="415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8264531" y="4983636"/>
            <a:ext cx="119640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8331825" y="789827"/>
            <a:ext cx="1033942" cy="728929"/>
          </a:xfrm>
          <a:custGeom>
            <a:avLst/>
            <a:gdLst/>
            <a:ahLst/>
            <a:cxnLst/>
            <a:rect r="r" b="b" t="t" l="l"/>
            <a:pathLst>
              <a:path h="728929" w="1033942">
                <a:moveTo>
                  <a:pt x="0" y="0"/>
                </a:moveTo>
                <a:lnTo>
                  <a:pt x="1033942" y="0"/>
                </a:lnTo>
                <a:lnTo>
                  <a:pt x="1033942" y="728929"/>
                </a:lnTo>
                <a:lnTo>
                  <a:pt x="0" y="7289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870052"/>
            <a:ext cx="9445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Demo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2114550"/>
            <a:ext cx="9445523" cy="128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live demonstration showcases the OCR system processing real-world inputs — from clean scanned documents to complex natural scene images with varied fonts, lighting, and orientations.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73188" y="3861044"/>
            <a:ext cx="4619034" cy="3108874"/>
            <a:chOff x="0" y="0"/>
            <a:chExt cx="6158713" cy="41451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58738" cy="4145153"/>
            </a:xfrm>
            <a:custGeom>
              <a:avLst/>
              <a:gdLst/>
              <a:ahLst/>
              <a:cxnLst/>
              <a:rect r="r" b="b" t="t" l="l"/>
              <a:pathLst>
                <a:path h="4145153" w="6158738">
                  <a:moveTo>
                    <a:pt x="0" y="160782"/>
                  </a:moveTo>
                  <a:cubicBezTo>
                    <a:pt x="0" y="72009"/>
                    <a:pt x="72009" y="0"/>
                    <a:pt x="160782" y="0"/>
                  </a:cubicBezTo>
                  <a:lnTo>
                    <a:pt x="5997956" y="0"/>
                  </a:lnTo>
                  <a:cubicBezTo>
                    <a:pt x="6086729" y="0"/>
                    <a:pt x="6158738" y="72009"/>
                    <a:pt x="6158738" y="160782"/>
                  </a:cubicBezTo>
                  <a:lnTo>
                    <a:pt x="6158738" y="3984371"/>
                  </a:lnTo>
                  <a:cubicBezTo>
                    <a:pt x="6158738" y="4073144"/>
                    <a:pt x="6086729" y="4145153"/>
                    <a:pt x="5997956" y="4145153"/>
                  </a:cubicBezTo>
                  <a:lnTo>
                    <a:pt x="160782" y="4145153"/>
                  </a:lnTo>
                  <a:cubicBezTo>
                    <a:pt x="72009" y="4145153"/>
                    <a:pt x="0" y="4073144"/>
                    <a:pt x="0" y="398437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13850" y="4249341"/>
            <a:ext cx="2936974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📄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Link of the web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1248" y="5137756"/>
            <a:ext cx="3116901" cy="105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699" u="sng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https://vath7677.github.io/web_ocr/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37634" y="3861044"/>
            <a:ext cx="4619177" cy="3523507"/>
            <a:chOff x="0" y="0"/>
            <a:chExt cx="6158903" cy="46980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58992" cy="4697995"/>
            </a:xfrm>
            <a:custGeom>
              <a:avLst/>
              <a:gdLst/>
              <a:ahLst/>
              <a:cxnLst/>
              <a:rect r="r" b="b" t="t" l="l"/>
              <a:pathLst>
                <a:path h="4697995" w="6158992">
                  <a:moveTo>
                    <a:pt x="0" y="182226"/>
                  </a:moveTo>
                  <a:cubicBezTo>
                    <a:pt x="0" y="81613"/>
                    <a:pt x="72009" y="0"/>
                    <a:pt x="160782" y="0"/>
                  </a:cubicBezTo>
                  <a:lnTo>
                    <a:pt x="5998210" y="0"/>
                  </a:lnTo>
                  <a:cubicBezTo>
                    <a:pt x="6086983" y="0"/>
                    <a:pt x="6158992" y="81613"/>
                    <a:pt x="6158992" y="182226"/>
                  </a:cubicBezTo>
                  <a:lnTo>
                    <a:pt x="6158992" y="4515770"/>
                  </a:lnTo>
                  <a:cubicBezTo>
                    <a:pt x="6158992" y="4616382"/>
                    <a:pt x="6086983" y="4697995"/>
                    <a:pt x="5998210" y="4697995"/>
                  </a:cubicBezTo>
                  <a:lnTo>
                    <a:pt x="160782" y="4697995"/>
                  </a:lnTo>
                  <a:cubicBezTo>
                    <a:pt x="72009" y="4697995"/>
                    <a:pt x="0" y="4616382"/>
                    <a:pt x="0" y="451577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178306" y="4192191"/>
            <a:ext cx="3842593" cy="41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🌐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QR-Code for Testing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73188" y="7215340"/>
            <a:ext cx="9483623" cy="2201618"/>
            <a:chOff x="0" y="0"/>
            <a:chExt cx="12644831" cy="29354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44755" cy="2935478"/>
            </a:xfrm>
            <a:custGeom>
              <a:avLst/>
              <a:gdLst/>
              <a:ahLst/>
              <a:cxnLst/>
              <a:rect r="r" b="b" t="t" l="l"/>
              <a:pathLst>
                <a:path h="2935478" w="12644755">
                  <a:moveTo>
                    <a:pt x="0" y="161544"/>
                  </a:moveTo>
                  <a:cubicBezTo>
                    <a:pt x="0" y="72390"/>
                    <a:pt x="72390" y="0"/>
                    <a:pt x="161544" y="0"/>
                  </a:cubicBezTo>
                  <a:lnTo>
                    <a:pt x="12483211" y="0"/>
                  </a:lnTo>
                  <a:cubicBezTo>
                    <a:pt x="12572492" y="0"/>
                    <a:pt x="12644755" y="72390"/>
                    <a:pt x="12644755" y="161544"/>
                  </a:cubicBezTo>
                  <a:lnTo>
                    <a:pt x="12644755" y="2773934"/>
                  </a:lnTo>
                  <a:cubicBezTo>
                    <a:pt x="12644755" y="2863215"/>
                    <a:pt x="12572365" y="2935478"/>
                    <a:pt x="12483211" y="2935478"/>
                  </a:cubicBezTo>
                  <a:lnTo>
                    <a:pt x="161544" y="2935478"/>
                  </a:lnTo>
                  <a:cubicBezTo>
                    <a:pt x="72390" y="2935478"/>
                    <a:pt x="0" y="2863088"/>
                    <a:pt x="0" y="277393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0C1D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850" y="7546477"/>
            <a:ext cx="8802291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⚡</a:t>
            </a:r>
            <a:r>
              <a:rPr lang="en-US" sz="2700" b="true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 Inference Speed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850" y="8083306"/>
            <a:ext cx="8802291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processing on standard hardware with batch support for throughput</a:t>
            </a:r>
          </a:p>
        </p:txBody>
      </p:sp>
      <p:sp>
        <p:nvSpPr>
          <p:cNvPr name="Freeform 23" id="23" descr="https://vath7677.github.io/web_ocr/"/>
          <p:cNvSpPr/>
          <p:nvPr/>
        </p:nvSpPr>
        <p:spPr>
          <a:xfrm flipH="false" flipV="false" rot="0">
            <a:off x="6838833" y="4671031"/>
            <a:ext cx="2439533" cy="2439533"/>
          </a:xfrm>
          <a:custGeom>
            <a:avLst/>
            <a:gdLst/>
            <a:ahLst/>
            <a:cxnLst/>
            <a:rect r="r" b="b" t="t" l="l"/>
            <a:pathLst>
              <a:path h="2439533" w="2439533">
                <a:moveTo>
                  <a:pt x="0" y="0"/>
                </a:moveTo>
                <a:lnTo>
                  <a:pt x="2439534" y="0"/>
                </a:lnTo>
                <a:lnTo>
                  <a:pt x="2439534" y="2439534"/>
                </a:lnTo>
                <a:lnTo>
                  <a:pt x="0" y="2439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21569"/>
            <a:ext cx="1630352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Challenges &amp; Future Improvements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725788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Current Challenges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376012"/>
            <a:ext cx="7805890" cy="3480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Low-quality images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blur, glare, and low resolution reduce accuracy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Complex scripts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non-Latin alphabets and mixed-language text require specialized training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Handwritten text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high variability in stroke and style limits recognition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rPr>
              <a:t>Curved or distorted text</a:t>
            </a: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— standard detectors struggle with non-horizontal layouts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99406" y="2725788"/>
            <a:ext cx="780589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Roadmap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605667" y="3511306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20798" y="3411436"/>
            <a:ext cx="688448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Integrate transformer-based models (e.g., TrOCR) for improved context awareness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605667" y="4985595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420798" y="4885725"/>
            <a:ext cx="6884489" cy="85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Expand language support to Khmer, Chinese, and France scripts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605667" y="6459884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420798" y="6360023"/>
            <a:ext cx="688448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Deploy as a REST API or web service for broader accessibility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605667" y="7934173"/>
            <a:ext cx="425206" cy="425206"/>
          </a:xfrm>
          <a:custGeom>
            <a:avLst/>
            <a:gdLst/>
            <a:ahLst/>
            <a:cxnLst/>
            <a:rect r="r" b="b" t="t" l="l"/>
            <a:pathLst>
              <a:path h="425206" w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t="0" r="-8888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20798" y="7834313"/>
            <a:ext cx="6884489" cy="85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layout analysis to preserve document structure and formatting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96022" y="3990807"/>
            <a:ext cx="9095956" cy="2076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3"/>
              </a:lnSpc>
            </a:pPr>
            <a:r>
              <a:rPr lang="en-US" sz="1218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DAHOr3zMzEk</dc:identifier>
  <dcterms:modified xsi:type="dcterms:W3CDTF">2011-08-01T06:04:30Z</dcterms:modified>
  <cp:revision>1</cp:revision>
  <dc:title>Optical-Character-Recognition-OCR.pptx</dc:title>
</cp:coreProperties>
</file>